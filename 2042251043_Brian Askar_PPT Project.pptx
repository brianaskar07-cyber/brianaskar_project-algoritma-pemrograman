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25603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85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68249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C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Academic Technology Presentation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470916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510235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 sensor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572768" y="470916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72768" y="510235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pengguna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2551176" y="470916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551176" y="510235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risiko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434840" y="960120"/>
            <a:ext cx="6766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Rancang Bangun Sistem Monitoring Risiko Kebakaran Berbasis .NET MAUI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4453128" y="2212848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Integrasi Face Recognition, Gemini AI, Fuzzy Logic, Neural Network, dan SQLite Database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62272" y="2926080"/>
            <a:ext cx="6217920" cy="0"/>
          </a:xfrm>
          <a:prstGeom prst="line">
            <a:avLst/>
          </a:prstGeom>
          <a:noFill/>
          <a:ln w="12700">
            <a:solidFill>
              <a:srgbClr val="D0D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3246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Brian Askar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62272" y="35844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NRP: 2042251043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62272" y="3977640"/>
            <a:ext cx="53035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Studi Teknologi Rekayasa Instrumentasi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Fakultas Vokasi - Institut Teknologi Sepuluh Nopember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KONTEKS MASALAH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Latar Belakang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184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53218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 kebakaran pada bangunan, laboratorium, dan fasilitas publik dapat berkembang cepat.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53218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konvensional umumnya hanya menampilkan nilai sensor tanpa interpretasi yang mudah dipahami.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6791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660904"/>
            <a:ext cx="53218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membutuhkan analisis rinci untuk pengambilan keputusan yang lebih cepat.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32095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191256"/>
            <a:ext cx="53218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Warga sipil membutuhkan informasi keselamatan yang sederhana, jelas, dan tidak teknis.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373989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721608"/>
            <a:ext cx="53218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lintas-platform dapat menggabungkan monitoring, AI, autentikasi, dan database dalam satu sistem.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1609344"/>
            <a:ext cx="1325880" cy="566928"/>
          </a:xfrm>
          <a:prstGeom prst="rect">
            <a:avLst/>
          </a:prstGeom>
          <a:solidFill>
            <a:srgbClr val="FDE9E7"/>
          </a:solidFill>
          <a:ln w="12700">
            <a:solidFill>
              <a:srgbClr val="F3B5A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Suhu naik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1892808"/>
            <a:ext cx="548640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823960" y="1609344"/>
            <a:ext cx="1325880" cy="566928"/>
          </a:xfrm>
          <a:prstGeom prst="rect">
            <a:avLst/>
          </a:prstGeom>
          <a:solidFill>
            <a:srgbClr val="FFF3E8"/>
          </a:solidFill>
          <a:ln w="12700">
            <a:solidFill>
              <a:srgbClr val="F6C89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Asap naik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332720" y="1892808"/>
            <a:ext cx="475488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881360" y="1609344"/>
            <a:ext cx="841248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2743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Kebutuhan utama: sistem monitoring yang memberi status dan rekomendasi, bukan hanya angka sensor.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84848" y="3401568"/>
            <a:ext cx="4389120" cy="0"/>
          </a:xfrm>
          <a:prstGeom prst="line">
            <a:avLst/>
          </a:prstGeom>
          <a:noFill/>
          <a:ln w="12700">
            <a:solidFill>
              <a:srgbClr val="CCD6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370332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 .NET MAUI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4005072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Menyediakan antarmuka login, registrasi, face verification, dashboard operator, dashboard warga sipil, dan panel AI assistant dalam satu aplikasi.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84848" y="48280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 AI dan Database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84848" y="5129784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 Logic dan ANN mengolah risiko; Gemini AI memberi penjelasan; SQLite menyimpan akun, sensor, chat, dan broadcast.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ARAH PENGEMBANGAN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Rumusan Masalah dan Tujuan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Rumusan Masalah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0756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30" dirty="0"/>
          </a:p>
        </p:txBody>
      </p:sp>
      <p:sp>
        <p:nvSpPr>
          <p:cNvPr id="7" name="Text 5"/>
          <p:cNvSpPr/>
          <p:nvPr/>
        </p:nvSpPr>
        <p:spPr>
          <a:xfrm>
            <a:off x="1078992" y="2057400"/>
            <a:ext cx="44074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mengolah suhu, asap, dan kelembapan menjadi status risiko kebakaran?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822960" y="26426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30" dirty="0"/>
          </a:p>
        </p:txBody>
      </p:sp>
      <p:sp>
        <p:nvSpPr>
          <p:cNvPr id="9" name="Text 7"/>
          <p:cNvSpPr/>
          <p:nvPr/>
        </p:nvSpPr>
        <p:spPr>
          <a:xfrm>
            <a:off x="1078992" y="2624328"/>
            <a:ext cx="44074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mengamankan akses pengguna dengan login dan verifikasi wajah?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822960" y="32095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30" dirty="0"/>
          </a:p>
        </p:txBody>
      </p:sp>
      <p:sp>
        <p:nvSpPr>
          <p:cNvPr id="11" name="Text 9"/>
          <p:cNvSpPr/>
          <p:nvPr/>
        </p:nvSpPr>
        <p:spPr>
          <a:xfrm>
            <a:off x="1078992" y="3191256"/>
            <a:ext cx="44074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menyimpan riwayat sensor, chat, akun, dan broadcast secara lokal?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822960" y="37764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30" dirty="0"/>
          </a:p>
        </p:txBody>
      </p:sp>
      <p:sp>
        <p:nvSpPr>
          <p:cNvPr id="13" name="Text 11"/>
          <p:cNvSpPr/>
          <p:nvPr/>
        </p:nvSpPr>
        <p:spPr>
          <a:xfrm>
            <a:off x="1078992" y="3758184"/>
            <a:ext cx="44074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menyajikan informasi yang sesuai untuk operator dan warga sipil?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640080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Sistem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20756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30" dirty="0"/>
          </a:p>
        </p:txBody>
      </p:sp>
      <p:sp>
        <p:nvSpPr>
          <p:cNvPr id="16" name="Text 14"/>
          <p:cNvSpPr/>
          <p:nvPr/>
        </p:nvSpPr>
        <p:spPr>
          <a:xfrm>
            <a:off x="6702552" y="2057400"/>
            <a:ext cx="44531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Membangun aplikasi monitoring risiko kebakaran berbasis .NET MAUI.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6446520" y="26426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30" dirty="0"/>
          </a:p>
        </p:txBody>
      </p:sp>
      <p:sp>
        <p:nvSpPr>
          <p:cNvPr id="18" name="Text 16"/>
          <p:cNvSpPr/>
          <p:nvPr/>
        </p:nvSpPr>
        <p:spPr>
          <a:xfrm>
            <a:off x="6702552" y="2624328"/>
            <a:ext cx="44531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Mengintegrasikan SQLite, Face Recognition, Fuzzy Logic, ANN, dan Gemini AI.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6446520" y="32095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6702552" y="3191256"/>
            <a:ext cx="44531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Menyediakan dashboard berbasis peran untuk operator dan warga sipil.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6446520" y="37764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30" dirty="0"/>
          </a:p>
        </p:txBody>
      </p:sp>
      <p:sp>
        <p:nvSpPr>
          <p:cNvPr id="22" name="Text 20"/>
          <p:cNvSpPr/>
          <p:nvPr/>
        </p:nvSpPr>
        <p:spPr>
          <a:xfrm>
            <a:off x="6702552" y="3758184"/>
            <a:ext cx="44531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Menampilkan interpretasi risiko secara ringkas, jelas, dan dapat ditindaklanjuti.</a:t>
            </a:r>
            <a:endParaRPr lang="en-US" sz="1330" dirty="0"/>
          </a:p>
        </p:txBody>
      </p:sp>
      <p:sp>
        <p:nvSpPr>
          <p:cNvPr id="23" name="Shape 21"/>
          <p:cNvSpPr/>
          <p:nvPr/>
        </p:nvSpPr>
        <p:spPr>
          <a:xfrm>
            <a:off x="6016752" y="1508760"/>
            <a:ext cx="0" cy="3520440"/>
          </a:xfrm>
          <a:prstGeom prst="line">
            <a:avLst/>
          </a:prstGeom>
          <a:noFill/>
          <a:ln w="12700">
            <a:solidFill>
              <a:srgbClr val="D2DA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257800"/>
            <a:ext cx="1051560" cy="256032"/>
          </a:xfrm>
          <a:prstGeom prst="rect">
            <a:avLst/>
          </a:prstGeom>
          <a:solidFill>
            <a:srgbClr val="EAF1F8"/>
          </a:solidFill>
          <a:ln>
            <a:solidFill>
              <a:srgbClr val="EAF1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MAUI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48840" y="5257800"/>
            <a:ext cx="868680" cy="256032"/>
          </a:xfrm>
          <a:prstGeom prst="rect">
            <a:avLst/>
          </a:prstGeom>
          <a:solidFill>
            <a:srgbClr val="EAF1F8"/>
          </a:solidFill>
          <a:ln>
            <a:solidFill>
              <a:srgbClr val="EAF1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54680" y="5257800"/>
            <a:ext cx="1417320" cy="256032"/>
          </a:xfrm>
          <a:prstGeom prst="rect">
            <a:avLst/>
          </a:prstGeom>
          <a:solidFill>
            <a:srgbClr val="EAF1F8"/>
          </a:solidFill>
          <a:ln>
            <a:solidFill>
              <a:srgbClr val="EAF1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Recognition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46520" y="5257800"/>
            <a:ext cx="1143000" cy="256032"/>
          </a:xfrm>
          <a:prstGeom prst="rect">
            <a:avLst/>
          </a:prstGeom>
          <a:solidFill>
            <a:srgbClr val="FFF3E8"/>
          </a:solidFill>
          <a:ln>
            <a:solidFill>
              <a:srgbClr val="FFF3E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 Logic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26680" y="5257800"/>
            <a:ext cx="1417320" cy="256032"/>
          </a:xfrm>
          <a:prstGeom prst="rect">
            <a:avLst/>
          </a:prstGeom>
          <a:solidFill>
            <a:srgbClr val="FFF3E8"/>
          </a:solidFill>
          <a:ln>
            <a:solidFill>
              <a:srgbClr val="FFF3E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299448" y="5257800"/>
            <a:ext cx="1051560" cy="256032"/>
          </a:xfrm>
          <a:prstGeom prst="rect">
            <a:avLst/>
          </a:prstGeom>
          <a:solidFill>
            <a:srgbClr val="FFF3E8"/>
          </a:solidFill>
          <a:ln>
            <a:solidFill>
              <a:srgbClr val="FFF3E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AI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UTAMA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Konsep Sistem FIRE Monitoring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533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menerima data lingkungan, menghitung risiko, lalu menampilkan status yang mudah dipahami.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1945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Simulasi Sensor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Suhu | Asap | Kelembapan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36976" y="2569464"/>
            <a:ext cx="420624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49040" y="2148840"/>
            <a:ext cx="1737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569464"/>
            <a:ext cx="420624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181344" y="2148840"/>
            <a:ext cx="1600200" cy="841248"/>
          </a:xfrm>
          <a:prstGeom prst="rect">
            <a:avLst/>
          </a:prstGeom>
          <a:solidFill>
            <a:srgbClr val="FFF3E8"/>
          </a:solidFill>
          <a:ln w="12700">
            <a:solidFill>
              <a:srgbClr val="FDBA7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 Logic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ANN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73568" y="2569464"/>
            <a:ext cx="420624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485632" y="2148840"/>
            <a:ext cx="1828800" cy="841248"/>
          </a:xfrm>
          <a:prstGeom prst="rect">
            <a:avLst/>
          </a:prstGeom>
          <a:solidFill>
            <a:srgbClr val="EAF1F8"/>
          </a:solidFill>
          <a:ln w="12700">
            <a:solidFill>
              <a:srgbClr val="A8C7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01952" y="3886200"/>
            <a:ext cx="1234440" cy="502920"/>
          </a:xfrm>
          <a:prstGeom prst="rect">
            <a:avLst/>
          </a:prstGeom>
          <a:solidFill>
            <a:srgbClr val="EAF7EE"/>
          </a:solidFill>
          <a:ln w="12700">
            <a:solidFill>
              <a:srgbClr val="86D19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886200"/>
            <a:ext cx="1417320" cy="502920"/>
          </a:xfrm>
          <a:prstGeom prst="rect">
            <a:avLst/>
          </a:prstGeom>
          <a:solidFill>
            <a:srgbClr val="FFF5E6"/>
          </a:solidFill>
          <a:ln w="12700">
            <a:solidFill>
              <a:srgbClr val="F6C16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WASPADA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3886200"/>
            <a:ext cx="1325880" cy="502920"/>
          </a:xfrm>
          <a:prstGeom prst="rect">
            <a:avLst/>
          </a:prstGeom>
          <a:solidFill>
            <a:srgbClr val="FDEBE9"/>
          </a:solidFill>
          <a:ln w="12700">
            <a:solidFill>
              <a:srgbClr val="EE9A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BAHAYA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01952" y="4681728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sistem berupa status risiko dan rekomendasi tindakan untuk dua role pengguna.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057400" y="52486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2313432" y="5230368"/>
            <a:ext cx="71963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Operator: informasi lengkap, hasil Fuzzy-ANN, AI assistant, database test, broadcast.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2057400" y="55778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2313432" y="5559552"/>
            <a:ext cx="71963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Warga Sipil: status keselamatan, instruksi sederhana, pesan operator, ringkasan AI.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 SISTEM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Arsitektur Sistem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fire_assets/trimmed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0" y="1417320"/>
            <a:ext cx="3524117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57150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 arsitektur FIRE pada file laporan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21208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arsitektur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230368" y="19568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90" dirty="0"/>
          </a:p>
        </p:txBody>
      </p:sp>
      <p:sp>
        <p:nvSpPr>
          <p:cNvPr id="9" name="Text 6"/>
          <p:cNvSpPr/>
          <p:nvPr/>
        </p:nvSpPr>
        <p:spPr>
          <a:xfrm>
            <a:off x="5486400" y="1938528"/>
            <a:ext cx="5687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simulation menghasilkan nilai suhu, asap, dan kelembapan.</a:t>
            </a:r>
            <a:endParaRPr lang="en-US" sz="1290" dirty="0"/>
          </a:p>
        </p:txBody>
      </p:sp>
      <p:sp>
        <p:nvSpPr>
          <p:cNvPr id="10" name="Text 7"/>
          <p:cNvSpPr/>
          <p:nvPr/>
        </p:nvSpPr>
        <p:spPr>
          <a:xfrm>
            <a:off x="5230368" y="24323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90" dirty="0"/>
          </a:p>
        </p:txBody>
      </p:sp>
      <p:sp>
        <p:nvSpPr>
          <p:cNvPr id="11" name="Text 8"/>
          <p:cNvSpPr/>
          <p:nvPr/>
        </p:nvSpPr>
        <p:spPr>
          <a:xfrm>
            <a:off x="5486400" y="2414016"/>
            <a:ext cx="5687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calculation menentukan danger score sebagai dasar status.</a:t>
            </a:r>
            <a:endParaRPr lang="en-US" sz="1290" dirty="0"/>
          </a:p>
        </p:txBody>
      </p:sp>
      <p:sp>
        <p:nvSpPr>
          <p:cNvPr id="12" name="Text 9"/>
          <p:cNvSpPr/>
          <p:nvPr/>
        </p:nvSpPr>
        <p:spPr>
          <a:xfrm>
            <a:off x="5230368" y="29077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90" dirty="0"/>
          </a:p>
        </p:txBody>
      </p:sp>
      <p:sp>
        <p:nvSpPr>
          <p:cNvPr id="13" name="Text 10"/>
          <p:cNvSpPr/>
          <p:nvPr/>
        </p:nvSpPr>
        <p:spPr>
          <a:xfrm>
            <a:off x="5486400" y="2889504"/>
            <a:ext cx="5687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 Logic dan ANN membentuk interpretasi risiko secara hybrid.</a:t>
            </a:r>
            <a:endParaRPr lang="en-US" sz="1290" dirty="0"/>
          </a:p>
        </p:txBody>
      </p:sp>
      <p:sp>
        <p:nvSpPr>
          <p:cNvPr id="14" name="Text 11"/>
          <p:cNvSpPr/>
          <p:nvPr/>
        </p:nvSpPr>
        <p:spPr>
          <a:xfrm>
            <a:off x="5230368" y="33832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90" dirty="0"/>
          </a:p>
        </p:txBody>
      </p:sp>
      <p:sp>
        <p:nvSpPr>
          <p:cNvPr id="15" name="Text 12"/>
          <p:cNvSpPr/>
          <p:nvPr/>
        </p:nvSpPr>
        <p:spPr>
          <a:xfrm>
            <a:off x="5486400" y="3364992"/>
            <a:ext cx="5687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operator dan warga sipil menampilkan informasi sesuai kebutuhan role.</a:t>
            </a:r>
            <a:endParaRPr lang="en-US" sz="1290" dirty="0"/>
          </a:p>
        </p:txBody>
      </p:sp>
      <p:sp>
        <p:nvSpPr>
          <p:cNvPr id="16" name="Text 13"/>
          <p:cNvSpPr/>
          <p:nvPr/>
        </p:nvSpPr>
        <p:spPr>
          <a:xfrm>
            <a:off x="5230368" y="38587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90" dirty="0"/>
          </a:p>
        </p:txBody>
      </p:sp>
      <p:sp>
        <p:nvSpPr>
          <p:cNvPr id="17" name="Text 14"/>
          <p:cNvSpPr/>
          <p:nvPr/>
        </p:nvSpPr>
        <p:spPr>
          <a:xfrm>
            <a:off x="5486400" y="3840480"/>
            <a:ext cx="5687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menyimpan users, sensor records, chat logs, dan broadcast messages.</a:t>
            </a:r>
            <a:endParaRPr lang="en-US" sz="1290" dirty="0"/>
          </a:p>
        </p:txBody>
      </p:sp>
      <p:sp>
        <p:nvSpPr>
          <p:cNvPr id="18" name="Text 15"/>
          <p:cNvSpPr/>
          <p:nvPr/>
        </p:nvSpPr>
        <p:spPr>
          <a:xfrm>
            <a:off x="5230368" y="43342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90" dirty="0"/>
          </a:p>
        </p:txBody>
      </p:sp>
      <p:sp>
        <p:nvSpPr>
          <p:cNvPr id="19" name="Text 16"/>
          <p:cNvSpPr/>
          <p:nvPr/>
        </p:nvSpPr>
        <p:spPr>
          <a:xfrm>
            <a:off x="5486400" y="4315968"/>
            <a:ext cx="5687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AI menggunakan konteks sensor untuk memberi penjelasan dan rekomendasi.</a:t>
            </a:r>
            <a:endParaRPr lang="en-US" sz="1290" dirty="0"/>
          </a:p>
        </p:txBody>
      </p:sp>
      <p:sp>
        <p:nvSpPr>
          <p:cNvPr id="20" name="Shape 17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APLIKASI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Metodologi / Alur Sistem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fire_assets/trimmed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2826" y="1207008"/>
            <a:ext cx="2071029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61447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 sistem pada file laporan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04672" y="1536192"/>
            <a:ext cx="384048" cy="384048"/>
          </a:xfrm>
          <a:prstGeom prst="rect">
            <a:avLst/>
          </a:prstGeom>
          <a:solidFill>
            <a:srgbClr val="2047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53312" y="15179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53312" y="1837944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Pengguna memasukkan username, password, role, dan foto wajah.</a:t>
            </a:r>
            <a:endParaRPr lang="en-US" sz="1170" dirty="0"/>
          </a:p>
        </p:txBody>
      </p:sp>
      <p:sp>
        <p:nvSpPr>
          <p:cNvPr id="10" name="Shape 7"/>
          <p:cNvSpPr/>
          <p:nvPr/>
        </p:nvSpPr>
        <p:spPr>
          <a:xfrm>
            <a:off x="996696" y="2039112"/>
            <a:ext cx="0" cy="301752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804672" y="2615184"/>
            <a:ext cx="384048" cy="384048"/>
          </a:xfrm>
          <a:prstGeom prst="rect">
            <a:avLst/>
          </a:prstGeom>
          <a:solidFill>
            <a:srgbClr val="2047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2596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Login + Face Verification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53312" y="291693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 hash diverifikasi, lalu wajah dicek dengan Haar Cascade dan LBPH.</a:t>
            </a:r>
            <a:endParaRPr lang="en-US" sz="1170" dirty="0"/>
          </a:p>
        </p:txBody>
      </p:sp>
      <p:sp>
        <p:nvSpPr>
          <p:cNvPr id="14" name="Shape 11"/>
          <p:cNvSpPr/>
          <p:nvPr/>
        </p:nvSpPr>
        <p:spPr>
          <a:xfrm>
            <a:off x="996696" y="3118104"/>
            <a:ext cx="0" cy="301752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04672" y="3694176"/>
            <a:ext cx="384048" cy="38404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3675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53312" y="399592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memperbarui suhu, asap, kelembapan, danger level, dan status.</a:t>
            </a:r>
            <a:endParaRPr lang="en-US" sz="1170" dirty="0"/>
          </a:p>
        </p:txBody>
      </p:sp>
      <p:sp>
        <p:nvSpPr>
          <p:cNvPr id="18" name="Shape 15"/>
          <p:cNvSpPr/>
          <p:nvPr/>
        </p:nvSpPr>
        <p:spPr>
          <a:xfrm>
            <a:off x="996696" y="4197096"/>
            <a:ext cx="0" cy="301752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804672" y="4773168"/>
            <a:ext cx="384048" cy="384048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+ Database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53312" y="507492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Fuzzy, ANN, Gemini AI, SQLite, dan broadcast bekerja dalam satu alur.</a:t>
            </a:r>
            <a:endParaRPr lang="en-US" sz="1170" dirty="0"/>
          </a:p>
        </p:txBody>
      </p:sp>
      <p:sp>
        <p:nvSpPr>
          <p:cNvPr id="22" name="Text 19"/>
          <p:cNvSpPr/>
          <p:nvPr/>
        </p:nvSpPr>
        <p:spPr>
          <a:xfrm>
            <a:off x="914400" y="57150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sistem dibuat untuk memastikan keamanan akses, proses monitoring real-time, dan penyimpanan riwayat tetap berjalan pada aplikasi lokal.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ANTARMUKA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Implementasi Fitur Utama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fire_assets/trimmed/image8.png">    </p:cNvPr>
          <p:cNvPicPr>
            <a:picLocks noChangeAspect="1"/>
          </p:cNvPicPr>
          <p:nvPr/>
        </p:nvPicPr>
        <p:blipFill>
          <a:blip r:embed="rId1"/>
          <a:srcRect l="0" r="0" t="16300" b="16300"/>
          <a:stretch/>
        </p:blipFill>
        <p:spPr>
          <a:xfrm>
            <a:off x="685800" y="1298448"/>
            <a:ext cx="5257800" cy="1993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33756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+ Face Capture</a:t>
            </a:r>
            <a:endParaRPr lang="en-US" sz="850" dirty="0"/>
          </a:p>
        </p:txBody>
      </p:sp>
      <p:pic>
        <p:nvPicPr>
          <p:cNvPr id="7" name="Image 1" descr="/mnt/data/fire_assets/trimmed/image9.png">    </p:cNvPr>
          <p:cNvPicPr>
            <a:picLocks noChangeAspect="1"/>
          </p:cNvPicPr>
          <p:nvPr/>
        </p:nvPicPr>
        <p:blipFill>
          <a:blip r:embed="rId2"/>
          <a:srcRect l="0" r="0" t="15435" b="15435"/>
          <a:stretch/>
        </p:blipFill>
        <p:spPr>
          <a:xfrm>
            <a:off x="6263640" y="1298448"/>
            <a:ext cx="5257800" cy="19933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333756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pengguna</a:t>
            </a:r>
            <a:endParaRPr lang="en-US" sz="850" dirty="0"/>
          </a:p>
        </p:txBody>
      </p:sp>
      <p:pic>
        <p:nvPicPr>
          <p:cNvPr id="9" name="Image 2" descr="/mnt/data/fire_assets/trimmed/image11.png">    </p:cNvPr>
          <p:cNvPicPr>
            <a:picLocks noChangeAspect="1"/>
          </p:cNvPicPr>
          <p:nvPr/>
        </p:nvPicPr>
        <p:blipFill>
          <a:blip r:embed="rId3"/>
          <a:srcRect l="0" r="0" t="15435" b="15435"/>
          <a:stretch/>
        </p:blipFill>
        <p:spPr>
          <a:xfrm>
            <a:off x="685800" y="3685032"/>
            <a:ext cx="5257800" cy="19933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572414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Operator</a:t>
            </a:r>
            <a:endParaRPr lang="en-US" sz="850" dirty="0"/>
          </a:p>
        </p:txBody>
      </p:sp>
      <p:pic>
        <p:nvPicPr>
          <p:cNvPr id="11" name="Image 3" descr="/mnt/data/fire_assets/trimmed/image12.png">    </p:cNvPr>
          <p:cNvPicPr>
            <a:picLocks noChangeAspect="1"/>
          </p:cNvPicPr>
          <p:nvPr/>
        </p:nvPicPr>
        <p:blipFill>
          <a:blip r:embed="rId4"/>
          <a:srcRect l="0" r="0" t="15435" b="15435"/>
          <a:stretch/>
        </p:blipFill>
        <p:spPr>
          <a:xfrm>
            <a:off x="6263640" y="3685032"/>
            <a:ext cx="5257800" cy="19933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63640" y="572414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Warga Sipil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RISIKO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Metode Fuzzy Logic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4416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 Logic digunakan untuk mengubah kondisi sensor yang tidak pasti menjadi kategori yang mudah dipahami.</a:t>
            </a:r>
            <a:endParaRPr lang="en-US" sz="131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1554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Suhu, Asap, RH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78608" y="2423160"/>
            <a:ext cx="420624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090672" y="2084832"/>
            <a:ext cx="1463040" cy="676656"/>
          </a:xfrm>
          <a:prstGeom prst="rect">
            <a:avLst/>
          </a:prstGeom>
          <a:solidFill>
            <a:srgbClr val="EAF1F8"/>
          </a:solidFill>
          <a:ln w="12700">
            <a:solidFill>
              <a:srgbClr val="A8C7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Fuzzifikasi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parameter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2423160"/>
            <a:ext cx="411480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212080" y="2084832"/>
            <a:ext cx="1920240" cy="676656"/>
          </a:xfrm>
          <a:prstGeom prst="rect">
            <a:avLst/>
          </a:prstGeom>
          <a:solidFill>
            <a:srgbClr val="FFF3E8"/>
          </a:solidFill>
          <a:ln w="12700">
            <a:solidFill>
              <a:srgbClr val="FDBA7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Base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Aman-Waspada-Bahaya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269480" y="2423160"/>
            <a:ext cx="411480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0" y="2084832"/>
            <a:ext cx="1737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Defuzzifikasi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Average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674352" y="2423160"/>
            <a:ext cx="411480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177272" y="2084832"/>
            <a:ext cx="12344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Kategori status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822192"/>
            <a:ext cx="2057400" cy="694944"/>
          </a:xfrm>
          <a:prstGeom prst="rect">
            <a:avLst/>
          </a:prstGeom>
          <a:solidFill>
            <a:srgbClr val="FDE9E7"/>
          </a:solidFill>
          <a:ln w="12700">
            <a:solidFill>
              <a:srgbClr val="EE9A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&gt; 75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BAHAYA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822192"/>
            <a:ext cx="2057400" cy="694944"/>
          </a:xfrm>
          <a:prstGeom prst="rect">
            <a:avLst/>
          </a:prstGeom>
          <a:solidFill>
            <a:srgbClr val="FFF5E6"/>
          </a:solidFill>
          <a:ln w="12700">
            <a:solidFill>
              <a:srgbClr val="F6C16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&gt;= 45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WASPADA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822192"/>
            <a:ext cx="2057400" cy="694944"/>
          </a:xfrm>
          <a:prstGeom prst="rect">
            <a:avLst/>
          </a:prstGeom>
          <a:solidFill>
            <a:srgbClr val="EAF7EE"/>
          </a:solidFill>
          <a:ln w="12700">
            <a:solidFill>
              <a:srgbClr val="86D19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&lt; 45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50200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40" dirty="0"/>
          </a:p>
        </p:txBody>
      </p:sp>
      <p:sp>
        <p:nvSpPr>
          <p:cNvPr id="20" name="Text 18"/>
          <p:cNvSpPr/>
          <p:nvPr/>
        </p:nvSpPr>
        <p:spPr>
          <a:xfrm>
            <a:off x="1216152" y="5001768"/>
            <a:ext cx="69677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Menghasilkan klasifikasi bertahap, tidak sekadar logika biner.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960120" y="53492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1216152" y="5330952"/>
            <a:ext cx="69677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Cocok untuk kondisi sensor yang memiliki batas tidak kaku.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960120" y="56784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40" dirty="0"/>
          </a:p>
        </p:txBody>
      </p:sp>
      <p:sp>
        <p:nvSpPr>
          <p:cNvPr id="24" name="Text 22"/>
          <p:cNvSpPr/>
          <p:nvPr/>
        </p:nvSpPr>
        <p:spPr>
          <a:xfrm>
            <a:off x="1216152" y="5660136"/>
            <a:ext cx="69677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ditampilkan langsung pada dashboard dan chatbot.</a:t>
            </a:r>
            <a:endParaRPr lang="en-US" sz="1240" dirty="0"/>
          </a:p>
        </p:txBody>
      </p:sp>
      <p:pic>
        <p:nvPicPr>
          <p:cNvPr id="25" name="Image 0" descr="/mnt/data/fire_assets/trimmed/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3745602"/>
            <a:ext cx="2560320" cy="97613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732520" y="47914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 uji fuzzy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FEEDFORWARD + BACKPROPAGATION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Metode Neural Network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fire_assets/trimmed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65" y="1417320"/>
            <a:ext cx="2924975" cy="1417320"/>
          </a:xfrm>
          <a:prstGeom prst="rect">
            <a:avLst/>
          </a:prstGeom>
        </p:spPr>
      </p:pic>
      <p:pic>
        <p:nvPicPr>
          <p:cNvPr id="6" name="Image 1" descr="/mnt/data/fire_assets/trimmed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26" y="3072384"/>
            <a:ext cx="2987252" cy="1600200"/>
          </a:xfrm>
          <a:prstGeom prst="rect">
            <a:avLst/>
          </a:prstGeom>
        </p:spPr>
      </p:pic>
      <p:pic>
        <p:nvPicPr>
          <p:cNvPr id="7" name="Image 2" descr="/mnt/data/fire_assets/trimmed/image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29" y="4919472"/>
            <a:ext cx="2917646" cy="9601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17720" y="1938528"/>
            <a:ext cx="1508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Layer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neuron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T, Smoke, RH</a:t>
            </a:r>
            <a:endParaRPr lang="en-US" sz="1120" dirty="0"/>
          </a:p>
        </p:txBody>
      </p:sp>
      <p:sp>
        <p:nvSpPr>
          <p:cNvPr id="9" name="Shape 4"/>
          <p:cNvSpPr/>
          <p:nvPr/>
        </p:nvSpPr>
        <p:spPr>
          <a:xfrm>
            <a:off x="6291072" y="2377440"/>
            <a:ext cx="429768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0" name="Text 5"/>
          <p:cNvSpPr/>
          <p:nvPr/>
        </p:nvSpPr>
        <p:spPr>
          <a:xfrm>
            <a:off x="6812280" y="1938528"/>
            <a:ext cx="1417320" cy="868680"/>
          </a:xfrm>
          <a:prstGeom prst="rect">
            <a:avLst/>
          </a:prstGeom>
          <a:solidFill>
            <a:srgbClr val="EAF1F8"/>
          </a:solidFill>
          <a:ln w="12700">
            <a:solidFill>
              <a:srgbClr val="A8C7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neuron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394192" y="2377440"/>
            <a:ext cx="420624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12" name="Text 7"/>
          <p:cNvSpPr/>
          <p:nvPr/>
        </p:nvSpPr>
        <p:spPr>
          <a:xfrm>
            <a:off x="8906256" y="1938528"/>
            <a:ext cx="1508760" cy="868680"/>
          </a:xfrm>
          <a:prstGeom prst="rect">
            <a:avLst/>
          </a:prstGeom>
          <a:solidFill>
            <a:srgbClr val="FFF3E8"/>
          </a:solidFill>
          <a:ln w="12700">
            <a:solidFill>
              <a:srgbClr val="FDBA7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risk neuron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4617720" y="3429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 kerja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617720" y="373075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dinormalisasi, diproses dengan aktivasi sigmoid, lalu dikonversi menjadi risk score 0-100.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617720" y="44439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617720" y="4745736"/>
            <a:ext cx="5303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Bobot diperbarui menggunakan backpropagation. Pada pengujian, MSE menurun dari 0.082 ke 0.018 hingga epoch 3000.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617720" y="55138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 dalam sistem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617720" y="5815584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memberi estimasi berbasis pola sebagai pembanding hasil Fuzzy Logic agar interpretasi risiko lebih stabil.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21" name="Text 16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MODUL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Hasil Implementasi dan Pengujian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fire_assets/trimmed/imag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50064"/>
            <a:ext cx="4572000" cy="2449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3977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Ringkasan uji modul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86384" y="4370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 hasil uji utama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47548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1097280" y="4736592"/>
            <a:ext cx="42245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memperbarui data setiap 2 detik.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841248" y="5120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20" dirty="0"/>
          </a:p>
        </p:txBody>
      </p:sp>
      <p:sp>
        <p:nvSpPr>
          <p:cNvPr id="11" name="Text 8"/>
          <p:cNvSpPr/>
          <p:nvPr/>
        </p:nvSpPr>
        <p:spPr>
          <a:xfrm>
            <a:off x="1097280" y="5102352"/>
            <a:ext cx="42245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menyimpan log sensor setiap 10 detik.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841248" y="54864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097280" y="5468112"/>
            <a:ext cx="42245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AI memberi jawaban kontekstual.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841248" y="58521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1097280" y="5833872"/>
            <a:ext cx="422452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dikirim dari operator ke warga.</a:t>
            </a:r>
            <a:endParaRPr lang="en-US" sz="1120" dirty="0"/>
          </a:p>
        </p:txBody>
      </p:sp>
      <p:pic>
        <p:nvPicPr>
          <p:cNvPr id="16" name="Image 1" descr="/mnt/data/fire_assets/trimmed/image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755" y="1463040"/>
            <a:ext cx="4676849" cy="1783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52160" y="32918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Fuzzy-Neural decision test results</a:t>
            </a:r>
            <a:endParaRPr lang="en-US" sz="850" dirty="0"/>
          </a:p>
        </p:txBody>
      </p:sp>
      <p:pic>
        <p:nvPicPr>
          <p:cNvPr id="18" name="Image 2" descr="/mnt/data/fire_assets/trimmed/image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513" y="3794760"/>
            <a:ext cx="3957334" cy="1508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52160" y="53492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D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simulation test results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22" name="Text 17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 HASIL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Pembahasan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53312"/>
            <a:ext cx="9921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 berhasil mengintegrasikan UI lintas-platform, autentikasi, database lokal, AI decision support, dan AI assistant dalam satu aplikasi .NET MAUI.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Kelebihan Sistem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7157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1152144" y="2697480"/>
            <a:ext cx="44074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aplikasi untuk operator dan warga sipil.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896112" y="314553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10" name="Text 8"/>
          <p:cNvSpPr/>
          <p:nvPr/>
        </p:nvSpPr>
        <p:spPr>
          <a:xfrm>
            <a:off x="1152144" y="3127248"/>
            <a:ext cx="44074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Autentikasi lebih kuat dengan face recognition.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896112" y="35753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1152144" y="3557016"/>
            <a:ext cx="44074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 Logic transparan dan mudah dijelaskan.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896112" y="40050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14" name="Text 12"/>
          <p:cNvSpPr/>
          <p:nvPr/>
        </p:nvSpPr>
        <p:spPr>
          <a:xfrm>
            <a:off x="1152144" y="3986784"/>
            <a:ext cx="44074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memberi estimasi berbasis pola.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96112" y="44348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1152144" y="4416552"/>
            <a:ext cx="440740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menyimpan riwayat secara lokal.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6419088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41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Keterbatasan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73952" y="271576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19" name="Text 17"/>
          <p:cNvSpPr/>
          <p:nvPr/>
        </p:nvSpPr>
        <p:spPr>
          <a:xfrm>
            <a:off x="6729984" y="2697480"/>
            <a:ext cx="4544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sensor masih berupa simulasi dashboard.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6473952" y="314553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21" name="Text 19"/>
          <p:cNvSpPr/>
          <p:nvPr/>
        </p:nvSpPr>
        <p:spPr>
          <a:xfrm>
            <a:off x="6729984" y="3127248"/>
            <a:ext cx="4544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recognition diuji pada target Windows.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6473952" y="35753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23" name="Text 21"/>
          <p:cNvSpPr/>
          <p:nvPr/>
        </p:nvSpPr>
        <p:spPr>
          <a:xfrm>
            <a:off x="6729984" y="3557016"/>
            <a:ext cx="4544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API bergantung pada koneksi dan kuota.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6473952" y="40050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25" name="Text 23"/>
          <p:cNvSpPr/>
          <p:nvPr/>
        </p:nvSpPr>
        <p:spPr>
          <a:xfrm>
            <a:off x="6729984" y="3986784"/>
            <a:ext cx="4544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ANN bersifat demonstratif, belum industrial-grade.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6473952" y="44348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570" dirty="0"/>
          </a:p>
        </p:txBody>
      </p:sp>
      <p:sp>
        <p:nvSpPr>
          <p:cNvPr id="27" name="Text 25"/>
          <p:cNvSpPr/>
          <p:nvPr/>
        </p:nvSpPr>
        <p:spPr>
          <a:xfrm>
            <a:off x="6729984" y="4416552"/>
            <a:ext cx="4544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Belum ada notifikasi mobile berbasis perangkat nyata.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6035040" y="2148840"/>
            <a:ext cx="0" cy="3063240"/>
          </a:xfrm>
          <a:prstGeom prst="line">
            <a:avLst/>
          </a:prstGeom>
          <a:noFill/>
          <a:ln w="12700">
            <a:solidFill>
              <a:srgbClr val="D2DA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532120"/>
            <a:ext cx="1097280" cy="256032"/>
          </a:xfrm>
          <a:prstGeom prst="rect">
            <a:avLst/>
          </a:prstGeom>
          <a:solidFill>
            <a:srgbClr val="EAF1F8"/>
          </a:solidFill>
          <a:ln>
            <a:solidFill>
              <a:srgbClr val="EAF1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MAUI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48840" y="5532120"/>
            <a:ext cx="868680" cy="256032"/>
          </a:xfrm>
          <a:prstGeom prst="rect">
            <a:avLst/>
          </a:prstGeom>
          <a:solidFill>
            <a:srgbClr val="EAF1F8"/>
          </a:solidFill>
          <a:ln>
            <a:solidFill>
              <a:srgbClr val="EAF1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54680" y="5532120"/>
            <a:ext cx="1481328" cy="256032"/>
          </a:xfrm>
          <a:prstGeom prst="rect">
            <a:avLst/>
          </a:prstGeom>
          <a:solidFill>
            <a:srgbClr val="EAF1F8"/>
          </a:solidFill>
          <a:ln>
            <a:solidFill>
              <a:srgbClr val="EAF1F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Recognition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73168" y="5532120"/>
            <a:ext cx="1161288" cy="256032"/>
          </a:xfrm>
          <a:prstGeom prst="rect">
            <a:avLst/>
          </a:prstGeom>
          <a:solidFill>
            <a:srgbClr val="FFF3E8"/>
          </a:solidFill>
          <a:ln>
            <a:solidFill>
              <a:srgbClr val="FFF3E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 Logic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80760" y="5532120"/>
            <a:ext cx="1444752" cy="256032"/>
          </a:xfrm>
          <a:prstGeom prst="rect">
            <a:avLst/>
          </a:prstGeom>
          <a:solidFill>
            <a:srgbClr val="FFF3E8"/>
          </a:solidFill>
          <a:ln>
            <a:solidFill>
              <a:srgbClr val="FFF3E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Network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62672" y="5532120"/>
            <a:ext cx="1051560" cy="256032"/>
          </a:xfrm>
          <a:prstGeom prst="rect">
            <a:avLst/>
          </a:prstGeom>
          <a:solidFill>
            <a:srgbClr val="FFF3E8"/>
          </a:solidFill>
          <a:ln>
            <a:solidFill>
              <a:srgbClr val="FFF3E8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AI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PENUTUP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58368" y="548640"/>
            <a:ext cx="9921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 dan Saran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3152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19202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10" dirty="0"/>
          </a:p>
        </p:txBody>
      </p:sp>
      <p:sp>
        <p:nvSpPr>
          <p:cNvPr id="7" name="Text 5"/>
          <p:cNvSpPr/>
          <p:nvPr/>
        </p:nvSpPr>
        <p:spPr>
          <a:xfrm>
            <a:off x="1097280" y="1901952"/>
            <a:ext cx="48188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 monitoring risiko kebakaran berbasis .NET MAUI berhasil dirancang dan diimplementasikan.</a:t>
            </a:r>
            <a:endParaRPr lang="en-US" sz="1310" dirty="0"/>
          </a:p>
        </p:txBody>
      </p:sp>
      <p:sp>
        <p:nvSpPr>
          <p:cNvPr id="8" name="Text 6"/>
          <p:cNvSpPr/>
          <p:nvPr/>
        </p:nvSpPr>
        <p:spPr>
          <a:xfrm>
            <a:off x="841248" y="24505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10" dirty="0"/>
          </a:p>
        </p:txBody>
      </p:sp>
      <p:sp>
        <p:nvSpPr>
          <p:cNvPr id="9" name="Text 7"/>
          <p:cNvSpPr/>
          <p:nvPr/>
        </p:nvSpPr>
        <p:spPr>
          <a:xfrm>
            <a:off x="1097280" y="2432304"/>
            <a:ext cx="48188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mendukung register, login database, verifikasi wajah, dashboard berbasis role, AI assistant, dan penyimpanan historis.</a:t>
            </a:r>
            <a:endParaRPr lang="en-US" sz="1310" dirty="0"/>
          </a:p>
        </p:txBody>
      </p:sp>
      <p:sp>
        <p:nvSpPr>
          <p:cNvPr id="10" name="Text 8"/>
          <p:cNvSpPr/>
          <p:nvPr/>
        </p:nvSpPr>
        <p:spPr>
          <a:xfrm>
            <a:off x="841248" y="29809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10" dirty="0"/>
          </a:p>
        </p:txBody>
      </p:sp>
      <p:sp>
        <p:nvSpPr>
          <p:cNvPr id="11" name="Text 9"/>
          <p:cNvSpPr/>
          <p:nvPr/>
        </p:nvSpPr>
        <p:spPr>
          <a:xfrm>
            <a:off x="1097280" y="2962656"/>
            <a:ext cx="481888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Fuzzy Logic dan ANN membantu menerjemahkan data suhu, asap, dan kelembapan menjadi status Aman, Waspada, atau Bahaya.</a:t>
            </a:r>
            <a:endParaRPr lang="en-US" sz="1310" dirty="0"/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Saran Pengembangan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46520" y="19202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10" dirty="0"/>
          </a:p>
        </p:txBody>
      </p:sp>
      <p:sp>
        <p:nvSpPr>
          <p:cNvPr id="14" name="Text 12"/>
          <p:cNvSpPr/>
          <p:nvPr/>
        </p:nvSpPr>
        <p:spPr>
          <a:xfrm>
            <a:off x="6702552" y="1901952"/>
            <a:ext cx="47274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Integrasi sensor IoT fisik untuk data lapangan real-time.</a:t>
            </a:r>
            <a:endParaRPr lang="en-US" sz="1310" dirty="0"/>
          </a:p>
        </p:txBody>
      </p:sp>
      <p:sp>
        <p:nvSpPr>
          <p:cNvPr id="15" name="Text 13"/>
          <p:cNvSpPr/>
          <p:nvPr/>
        </p:nvSpPr>
        <p:spPr>
          <a:xfrm>
            <a:off x="6446520" y="23957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10" dirty="0"/>
          </a:p>
        </p:txBody>
      </p:sp>
      <p:sp>
        <p:nvSpPr>
          <p:cNvPr id="16" name="Text 14"/>
          <p:cNvSpPr/>
          <p:nvPr/>
        </p:nvSpPr>
        <p:spPr>
          <a:xfrm>
            <a:off x="6702552" y="2377440"/>
            <a:ext cx="47274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Sinkronisasi SQLite dengan cloud database.</a:t>
            </a:r>
            <a:endParaRPr lang="en-US" sz="1310" dirty="0"/>
          </a:p>
        </p:txBody>
      </p:sp>
      <p:sp>
        <p:nvSpPr>
          <p:cNvPr id="17" name="Text 15"/>
          <p:cNvSpPr/>
          <p:nvPr/>
        </p:nvSpPr>
        <p:spPr>
          <a:xfrm>
            <a:off x="6446520" y="28712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10" dirty="0"/>
          </a:p>
        </p:txBody>
      </p:sp>
      <p:sp>
        <p:nvSpPr>
          <p:cNvPr id="18" name="Text 16"/>
          <p:cNvSpPr/>
          <p:nvPr/>
        </p:nvSpPr>
        <p:spPr>
          <a:xfrm>
            <a:off x="6702552" y="2852928"/>
            <a:ext cx="47274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Notifikasi mobile untuk peringatan cepat.</a:t>
            </a:r>
            <a:endParaRPr lang="en-US" sz="1310" dirty="0"/>
          </a:p>
        </p:txBody>
      </p:sp>
      <p:sp>
        <p:nvSpPr>
          <p:cNvPr id="19" name="Text 17"/>
          <p:cNvSpPr/>
          <p:nvPr/>
        </p:nvSpPr>
        <p:spPr>
          <a:xfrm>
            <a:off x="6446520" y="33467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10" dirty="0"/>
          </a:p>
        </p:txBody>
      </p:sp>
      <p:sp>
        <p:nvSpPr>
          <p:cNvPr id="20" name="Text 18"/>
          <p:cNvSpPr/>
          <p:nvPr/>
        </p:nvSpPr>
        <p:spPr>
          <a:xfrm>
            <a:off x="6702552" y="3328416"/>
            <a:ext cx="47274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Peningkatan face recognition dengan pendekatan deep learning.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6446520" y="38221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1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10" dirty="0"/>
          </a:p>
        </p:txBody>
      </p:sp>
      <p:sp>
        <p:nvSpPr>
          <p:cNvPr id="22" name="Text 20"/>
          <p:cNvSpPr/>
          <p:nvPr/>
        </p:nvSpPr>
        <p:spPr>
          <a:xfrm>
            <a:off x="6702552" y="3803904"/>
            <a:ext cx="472744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Integrasi aktuator/perangkat nyata untuk respons darurat.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1143000" y="507492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IoT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24912" y="5340096"/>
            <a:ext cx="338328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154680" y="5074920"/>
            <a:ext cx="1417320" cy="530352"/>
          </a:xfrm>
          <a:prstGeom prst="rect">
            <a:avLst/>
          </a:prstGeom>
          <a:solidFill>
            <a:srgbClr val="EAF1F8"/>
          </a:solidFill>
          <a:ln w="12700">
            <a:solidFill>
              <a:srgbClr val="A8C7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04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Data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36592" y="5340096"/>
            <a:ext cx="338328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166360" y="5074920"/>
            <a:ext cx="1417320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FDBA7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Alert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48272" y="5340096"/>
            <a:ext cx="338328" cy="0"/>
          </a:xfrm>
          <a:prstGeom prst="line">
            <a:avLst/>
          </a:prstGeom>
          <a:noFill/>
          <a:ln w="15240">
            <a:solidFill>
              <a:srgbClr val="A5AFBD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178040" y="5074920"/>
            <a:ext cx="1600200" cy="530352"/>
          </a:xfrm>
          <a:prstGeom prst="rect">
            <a:avLst/>
          </a:prstGeom>
          <a:solidFill>
            <a:srgbClr val="FDE9E7"/>
          </a:solidFill>
          <a:ln w="12700">
            <a:solidFill>
              <a:srgbClr val="EE9A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Perangkat Nyata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6483096"/>
            <a:ext cx="1101852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6547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4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 Monitoring | .NET MAUI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32027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Institut Teknologi Sepuluh Nopember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Rancang Bangun Sistem Monitoring Risiko Kebakaran Berbasis .NET MAUI</dc:title>
  <dc:subject>Presentasi akademik sistem monitoring risiko kebakaran berbasis .NET MAUI</dc:subject>
  <dc:creator>OpenAI</dc:creator>
  <cp:lastModifiedBy>OpenAI</cp:lastModifiedBy>
  <cp:revision>1</cp:revision>
  <dcterms:created xsi:type="dcterms:W3CDTF">2026-06-13T19:57:44Z</dcterms:created>
  <dcterms:modified xsi:type="dcterms:W3CDTF">2026-06-13T19:57:44Z</dcterms:modified>
</cp:coreProperties>
</file>